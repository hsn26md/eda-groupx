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Asisten: buka dengan menyampaikan bahwa dosen berhalangan hadir pada pertemuan 4 dan 5, materi dirancang untuk bisa dikerjakan mandiri, dan pertanyaan yang tidak bisa dijawab di kelas akan diteruskan ke forum LMS dan dijawab dosen pada hari kerja.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tidak ada materi yang dikurangi. Yang berubah hanya cara penyampaiannya.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10 adalah yang dinilai. Kalau waktu menipis, pangkas Bagian 9 di kelas, jangan Bagian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ketergantungan: menghitung rata-rata rating tanpa menyadari -999 menghasilkan angka yang masuk akal secara tampilan tetapi salah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jangkar pertama.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mahasiswa menjalankan ketujuhnya dan menyebutkan satu hal ganjil sebelum Anda menunjukkannya.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Tanyakan ke kelas: berapa rata-rata rating di koperasi ini? Biarkan mereka menghitung dan menemukan angka negatif sendiri.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bagian konseptual terpenting pertemuan 4. Jangan terburu-buru.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Tekankan: menemukan MAR berarti menemukan bahwa kolom itu punya aturan keberlakuan, bukan punya data hilang.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jangkar kedua. Pertanyaan untuk kelas: uji apa yang bisa membuktikan dugaan ini? Jawabannya: tidak ada. Yang bisa hanya bertanya ke pengurus koperasi.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beda keep="first" dan keep=False: yang pertama untuk menghapus, yang kedua untuk memeriksa.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Tanyakan ke kelas bagaimana mereka tahu Alat Tulis sama dengan ATK. Jawaban yang diharapkan: bertanya ke pemilik data, bukan menebak.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Buang spasi pada SELURUH kolom teks sebagai langkah awal, bukan hanya pada kolom yang terlihat bermasalah.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 terpenting pertemuan 4. Jalankan kedua sel di depan kelas dan tunjukkan angkanya. Pastikan mahasiswa mencatat uji akal sehat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Aturan tidak bisa ditebak dari data. Mahasiswa harus menulisnya dari pengetahuan tentang hal yang diukur.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 inilah yang masuk ke laporan M2. Minta tim menambahkan minimal empat temuan lagi.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Asisten: berkeliling dan tanyakan satu hal ke tiap tim: kolom mana yang paling mengkhawatirkan, dan mengapa.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Umumkan tenggat M2 dan ingatkan bahwa forum LMS dijawab dosen setiap hari kerja.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·  KMTI21133  ·  PERTEMUAN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95371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Mendiagnosis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 data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49040"/>
            <a:ext cx="907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Menemukan apa yang salah, sebelum memperbaiki apa pun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754880"/>
            <a:ext cx="292608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50292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menit          Sub-CPMK4          Praktikum individu 3%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pekan ini berjalan agak berbeda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2290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DE1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Dosen berhalangan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40280"/>
            <a:ext cx="2874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4 dan 5 didampingi asisten. Materi dirancang agar bisa diselesaikan sendiri, di kelas maupun di luar kelas.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3024" y="1554480"/>
            <a:ext cx="342290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DE1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57344" y="178308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menggantikan ceramah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657344" y="2240280"/>
            <a:ext cx="2874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bagian berisi penjelasan, contoh yang dijalankan, dan tugas yang memeriksa jawaban Anda sendiri.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25968" y="1554480"/>
            <a:ext cx="342290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DE1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00288" y="178308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tetap terjawab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400288" y="2240280"/>
            <a:ext cx="2874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tidak terjawab di kelas ditulis di forum LMS. Dosen menjawab setiap hari kerja.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206240"/>
          <a:ext cx="1090879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71423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dilakukan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kelas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Kerjakan workbook bersama tim; asisten berkeliling membantu galat teknis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luar kelas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Lanjutkan bagian yang belum selesai; kerjakan kuis formatif berulang kali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Kalau mentok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Baris terakhir pesan galat, Restart and run all, tanya tim, tanya asisten, lalu forum LMS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640080" y="6263640"/>
            <a:ext cx="9811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Tenggat tetap berjalan seperti biasa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0817352" y="62636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150 menit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79983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42823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Bagian workbook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0–10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Pembuka dan pembagian tim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10–25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Bagian 1–2: lima dimensi dan potret awal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25–45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Bagian 3: nilai kosong dan placeholder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45–60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Bagian 4: MCAR, MAR, MNAR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60–65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65–80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Bagian 5–6: duplikat dan konsistensi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80–95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Bagian 7: tipe data dan jebakan tanggal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95–110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Bagian 8: validitas dan akurasi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110–125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Bagian 9: menyusun profil kualitas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125–150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Bagian 10: diterapkan ke data proyek tim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805672" y="146304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E8F1EF"/>
          </a:solidFill>
          <a:ln w="12700">
            <a:solidFill>
              <a:srgbClr val="CBDDD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034272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aturan hari ini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034272" y="21031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memperbaiki apa pun.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ini hanya mendiagnosis. Memperbaiki sebelum mendiagnosis menghilangkan bukti.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263640"/>
            <a:ext cx="9811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transaksi_koperasi_2025.csv — 1.543 baris, 16 kolom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817352" y="62636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dimensi kualitas data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840480"/>
                <a:gridCol w="523951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Pertanyaannya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Contoh masalah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Kelengkapan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Apakah ada nilai yang hilang?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 kosong, atau placeholder seperti -999 dan N/A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Keunikan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Apakah ada yang tercatat dua kali?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Duplikat persis maupun duplikat nyaris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Konsistensi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Apakah hal yang sama ditulis dengan cara yang sama?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ATK, Atk, " ATK ", dan "Alat Tulis" sebagai empat kategori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Apakah nilainya mungkin terjadi?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 barang negatif, diskon 150 persen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Akurasi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Apakah nilainya benar?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bayar tidak sama dengan jumlah dikali harga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Periksa berurutan dari atas ke bawah. Masalah di baris atas sering membuat baris bawah salah tafsir.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6263640"/>
            <a:ext cx="9811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Bagian 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0817352" y="62636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90799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yang kelihatan rapi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tentu benar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931920"/>
            <a:ext cx="8622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3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df.head() akan tampil cantik untuk data seburuk apa pun, dan pandas tidak akan memberi tahu Anda. Satu-satunya cara mengetahui kondisi data adalah memeriksanya satu dimensi demi satu dimensi, dengan sengaja.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Potret awal: tujuh perintah pertama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616952" cy="2377440"/>
          </a:xfrm>
          <a:prstGeom prst="roundRect">
            <a:avLst>
              <a:gd name="adj" fmla="val 3077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755648"/>
            <a:ext cx="706831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                      # berapa baris, berapa kolom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                     # tipe data dan jumlah non-null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                 # min, max, mean kolom numerik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df.describe(include='object') # kolom teks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df.isna().sum()               # nilai kosong per kolom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         # baris duplikat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df['kolom'].value_counts()    # isi kolom kategorikal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31352" y="1554480"/>
            <a:ext cx="3017520" cy="2377440"/>
          </a:xfrm>
          <a:prstGeom prst="roundRect">
            <a:avLst>
              <a:gd name="adj" fmla="val 3846"/>
            </a:avLst>
          </a:prstGeom>
          <a:solidFill>
            <a:srgbClr val="FBEFE8"/>
          </a:solidFill>
          <a:ln w="12700">
            <a:solidFill>
              <a:srgbClr val="F0D5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05672" y="17556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langsung terlihat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805672" y="2176272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tanggal_transaksi dan total_bayar bertipe object, padahal isinya tanggal dan uang.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rating_layanan bernilai -999.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2062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Ketujuhnya dijalankan pada dataset apa pun, selamanya, sebelum satu grafik pun dibuat.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263640"/>
            <a:ext cx="9811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Bagian 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817352" y="62636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Placeholder: kosong yang menyamar sebagai data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39593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Contoh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Terdeteksi isna()?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Kosong sejati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NaN, sel kosong di CSV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Placeholder angka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-999, -1, 0, 9999, tahun 1900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Placeholder teks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N/A, -, null, tidak diketahui, 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3611880"/>
            <a:ext cx="10908792" cy="1325880"/>
          </a:xfrm>
          <a:prstGeom prst="roundRect">
            <a:avLst>
              <a:gd name="adj" fmla="val 6897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5840" y="3822192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df.isna().sum()  </a:t>
            </a:r>
            <a:pPr indent="0" marL="0">
              <a:buNone/>
            </a:pPr>
            <a:r>
              <a:rPr lang="en-US" sz="1500" dirty="0">
                <a:solidFill>
                  <a:srgbClr val="E8EEF2"/>
                </a:solidFill>
              </a:rPr>
              <a:t>melaporkan rating_layanan LENGKAP.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005840" y="4261104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Kenyataannya: </a:t>
            </a:r>
            <a:pPr indent="0" marL="0">
              <a:buNone/>
            </a:pPr>
            <a:r>
              <a:rPr lang="en-US" sz="1500" b="1" dirty="0">
                <a:solidFill>
                  <a:srgbClr val="7F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baris</a:t>
            </a:r>
            <a:pPr indent="0" marL="0">
              <a:buNone/>
            </a:pPr>
            <a:r>
              <a:rPr lang="en-US" sz="1500" dirty="0">
                <a:solidFill>
                  <a:srgbClr val="B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bernilai -999, dan rata-rata kolom itu menjadi negatif.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1663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menemukannya: periksa min dan max setiap kolom numerik. Placeholder hampir selalu berupa angka yang mencolok.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263640"/>
            <a:ext cx="9811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Bagian 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817352" y="62636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data itu kosong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91840"/>
                <a:gridCol w="3200400"/>
                <a:gridCol w="30449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Istilah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Artinya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Contoh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Akibatnya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Kosong betul-betul acak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Kertas struk sobek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Menghapus baris aman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Kosong bergantung pada kolom lain yang terlihat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Berat kosong untuk Pulsa dan Jasa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Bisa ditangani per kelompok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Kosong bergantung pada nilainya sendiri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besar sengaja disembunyikan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Imputasi akan menyesatkan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3840480"/>
            <a:ext cx="10908792" cy="1188720"/>
          </a:xfrm>
          <a:prstGeom prst="roundRect">
            <a:avLst>
              <a:gd name="adj" fmla="val 7692"/>
            </a:avLst>
          </a:prstGeom>
          <a:solidFill>
            <a:srgbClr val="E8F1EF"/>
          </a:solidFill>
          <a:ln w="12700">
            <a:solidFill>
              <a:srgbClr val="CBDDD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60120" y="4041648"/>
            <a:ext cx="10268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dapat dibuktikan dari data. MCAR dan MNAR tidak dapat dibedakan.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4434840"/>
            <a:ext cx="1026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yang hilang tidak dapat diperiksa, jadi tidak ada uji statistik yang bisa membedakan keduanya. Yang membedakannya hanya pengetahuan tentang bagaimana data itu dikumpulkan.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263640"/>
            <a:ext cx="9811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Bagian 4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817352" y="62636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terbukti dari 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788152" cy="685800"/>
          </a:xfrm>
          <a:prstGeom prst="roundRect">
            <a:avLst>
              <a:gd name="adj" fmla="val 10667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755648"/>
            <a:ext cx="5239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pola_kosong(df, 'berat_kg', 'kategori')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578815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49631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Persen berat_kg kosong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Minuman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Makanan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702552" y="1554480"/>
            <a:ext cx="48463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DDE1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2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976872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yang jelas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976872" y="2194560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Kekosongan bergantung pada kategori, kolom yang bisa kita lihat. Jasa dan Pulsa memang tidak punya berat.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Tindakan yang tepat BUKAN mengisi dengan rata-rata, melainkan mengakui bahwa kolom ini hanya berlaku untuk barang fisik.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Mengisi berat Pulsa dengan 0,3 kg berarti menciptakan data palsu.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817352" y="62636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9720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uji mengatakan MCAR.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Kenyataannya MNAR.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566160"/>
            <a:ext cx="88971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B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Kekosongan saldo_simpanan tidak terkait kolom mana pun: tidak kategori, tidak kasir, tidak metode bayar. Secara statistik kolom ini tampak acak murni, dan Anda akan tergoda mengisinya dengan median.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263640"/>
            <a:ext cx="9811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Bagian 4 — CONTOH 4.3 dan 4.4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817352" y="62636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1F3B36"/>
          </a:solidFill>
          <a:ln w="12700">
            <a:solidFill>
              <a:srgbClr val="1F3B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5193792"/>
            <a:ext cx="10268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hal yang tidak muncul di uji mana pun: saldo tertinggi yang masih terlihat hanya 3,5 juta. Untuk koperasi ratusan anggota, tidak adanya satu pun saldo besar itu ganjil.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 persis dan duplikat nyaris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DDE1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6012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 persis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2402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baris. Seluruh kolom sama persis.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Ditemukan oleh df.duplicated(). Mudah.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92240" y="1645920"/>
            <a:ext cx="5056632" cy="2103120"/>
          </a:xfrm>
          <a:prstGeom prst="roundRect">
            <a:avLst>
              <a:gd name="adj" fmla="val 4348"/>
            </a:avLst>
          </a:prstGeom>
          <a:solidFill>
            <a:srgbClr val="FBEFE8"/>
          </a:solidFill>
          <a:ln w="12700">
            <a:solidFill>
              <a:srgbClr val="F0D5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1228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 nyaris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22402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baris ber-id_transaksi sama, tetapi beda kapitalisasi nama kasir.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ditemukan df.duplicated(), karena bagi pandas kedua baris itu memang berbeda.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023360"/>
            <a:ext cx="10908792" cy="1280160"/>
          </a:xfrm>
          <a:prstGeom prst="roundRect">
            <a:avLst>
              <a:gd name="adj" fmla="val 5714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4224528"/>
            <a:ext cx="103601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df.duplicated(subset=['id_transaksi'], keep=False).sum()   # 92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df.duplicated(keep=False).sum()                            # 48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A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selisihnya adalah duplikat nyaris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263640"/>
            <a:ext cx="9811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Bagian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817352" y="62636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hal, banyak cara menulisnya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908792" cy="1828800"/>
          </a:xfrm>
          <a:prstGeom prst="roundRect">
            <a:avLst>
              <a:gd name="adj" fmla="val 4000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755648"/>
            <a:ext cx="1036015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df['kategori'].astype(str)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s.nunique()                                  # 18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s.str.strip().nunique()                      # 11   &lt;- spasi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s.str.strip().str.title().nunique()          # 7    &lt;- huruf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FA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sisa 2 masalah: "Minumam" dan "Alat Tulis"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10908792" cy="1645920"/>
          </a:xfrm>
          <a:prstGeom prst="roundRect">
            <a:avLst>
              <a:gd name="adj" fmla="val 5556"/>
            </a:avLst>
          </a:prstGeom>
          <a:solidFill>
            <a:srgbClr val="E8F1EF"/>
          </a:solidFill>
          <a:ln w="12700">
            <a:solidFill>
              <a:srgbClr val="CBDD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3840480"/>
            <a:ext cx="10268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sisanya tidak bisa diselesaikan kode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224528"/>
            <a:ext cx="10268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Komputer tidak tahu bahwa "Minumam" salah ketik dari "Minuman", dan bahwa "Alat Tulis" adalah nama lain untuk ATK. Keputusan ini diambil manusia, lalu DICATAT ALASANNYA. Inilah sebabnya pertemuan 5 mewajibkan cleaning log.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263640"/>
            <a:ext cx="9811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Bagian 6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817352" y="62636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95371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anggota yang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pernah ada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301752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3323F"/>
          </a:solidFill>
          <a:ln w="12700">
            <a:solidFill>
              <a:srgbClr val="2332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3246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df['id_anggota'].nunique()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setelah .str.strip()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3159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259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3017520"/>
            <a:ext cx="47823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Anda menghitung jumlah anggota aktif koperasi tanpa membuang spasi, laporan Anda menyebut 59 anggota yang sebenarnya tidak ada.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Angkanya rapi, tabelnya cantik, dan hasilnya salah.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263640"/>
            <a:ext cx="9811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spasi di akhir teks, dan pandas menganggapnya anggota lain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817352" y="62636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9720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 galat. Dan 483 baris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 tanggal.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566160"/>
            <a:ext cx="88971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B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yang paling sering dipakai untuk format tanggal campur adalah format="mixed" dengan dayfirst=True. Pada dataset ini, cara itu membaca 2025-08-01 sebagai 8 Januari — tahun 2025, hari 08, bulan 01. Karena keduanya angka yang sah, pandas tidak punya alasan mengeluh.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263640"/>
            <a:ext cx="9811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Bagian 7 — CONTOH 7.3 dan 7.4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817352" y="62636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1F3B36"/>
          </a:solidFill>
          <a:ln w="12700">
            <a:solidFill>
              <a:srgbClr val="1F3B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5230368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akal sehatnya murah:  print(sorted(kolom.dt.month.unique()))  — data empat bulan yang berubah menjadi dua belas bulan langsung terlihat.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yang harus Anda tulis sendiri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2290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DE1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rentang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40280"/>
            <a:ext cx="2874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yang mungkin terjadi. jumlah harus positif, diskon antara 0 dan 100, rating antara 1 dan 5.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3024" y="1554480"/>
            <a:ext cx="342290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DE1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57344" y="178308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hubungan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657344" y="2240280"/>
            <a:ext cx="2874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Kaitan antarkolom. total_bayar harus sama dengan jumlah dikali harga dikali (1 - diskon).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25968" y="1554480"/>
            <a:ext cx="342290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DE1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00288" y="178308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waktu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400288" y="2240280"/>
            <a:ext cx="2874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kejadian. Tanggal retur tidak boleh mendahului tanggal pembelian.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66160"/>
          <a:ext cx="761695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4107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Pemeriksaan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Dilanggar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 harus positif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baris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diskon harus 0–100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baris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harus 1–5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 baris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cocok dengan hitungan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 dari 1.293 baris yang bisa diperiksa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640080" y="56235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baris lain belum bisa diperiksa sama sekali, karena total_bayar-nya masih teks. Satu cacat menyembunyikan cacat lain.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263640"/>
            <a:ext cx="9811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Bagian 8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817352" y="62636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kualitas data: satu tabel, satu menit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2468880"/>
                <a:gridCol w="822960"/>
                <a:gridCol w="1097280"/>
                <a:gridCol w="32278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Kolom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Masalah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Keparahan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Rencana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Kelengkapan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saldo_simpanan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Kosong, diduga MNAR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Tinggi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Jangan diimputasi; tanyakan pengurus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Kelengkapan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rating_layanan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Placeholder -999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Tinggi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Ubah menjadi NaN sebelum dihitung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Konsistensi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 kategori, banyak tulisan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Tinggi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Seragamkan; sinonim diputuskan manual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Nilai nol atau negatif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Tinggi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Telusuri apakah retur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Keunikan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seluruh kolom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Duplikat persis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Hapus, simpan satu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4206240"/>
            <a:ext cx="10908792" cy="1005840"/>
          </a:xfrm>
          <a:prstGeom prst="roundRect">
            <a:avLst>
              <a:gd name="adj" fmla="val 9091"/>
            </a:avLst>
          </a:prstGeom>
          <a:solidFill>
            <a:srgbClr val="E8F1EF"/>
          </a:solidFill>
          <a:ln w="12700">
            <a:solidFill>
              <a:srgbClr val="CBDDD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60120" y="4389120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Keparahan ditentukan dari dampaknya terhadap pertanyaan analisis tim, bukan dari jumlah barisnya. Masalah pada 5 baris kolom kunci bisa lebih parah daripada masalah pada 300 baris kolom yang tidak dipakai.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263640"/>
            <a:ext cx="9811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Bagian 9 — inti dari M2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0817352" y="62636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8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10  ·  25 MENIT  ·  TIM  ·  DINILAI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Terapkan pada data proyek tim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48716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DDE1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33172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Sembilan pemeriksaan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88920"/>
            <a:ext cx="1938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seluruh pola Bagian 2 sampai 8 pada dataset tim, bukan hanya yang terlihat bermasalah.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47288" y="2103120"/>
            <a:ext cx="248716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DDE1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721608" y="233172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kekosongan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721608" y="2788920"/>
            <a:ext cx="1938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kolom dengan kosong di atas 5% dinilai MCAR, MAR, atau MNAR, beserta alasannya.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54496" y="2103120"/>
            <a:ext cx="248716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DDE1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28816" y="233172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sendiri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28816" y="2788920"/>
            <a:ext cx="1938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lima aturan validitas dan satu aturan hubungan antarkolom, ditulis dari pengetahuan tim.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61704" y="2103120"/>
            <a:ext cx="248716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DDE1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D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336024" y="233172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tersimpan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336024" y="2788920"/>
            <a:ext cx="1938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Disimpan di reports/ dan di-commit ke repositori.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526280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bagian ini menjadi bagian pertama M2 — Data Quality Report, yang dikumpulkan pada pertemuan 5.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817352" y="62636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Tujuh hal yang dibawa pulang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908792" cy="493776"/>
          </a:xfrm>
          <a:prstGeom prst="roundRect">
            <a:avLst>
              <a:gd name="adj" fmla="val 12963"/>
            </a:avLst>
          </a:prstGeom>
          <a:solidFill>
            <a:srgbClr val="23323F"/>
          </a:solidFill>
          <a:ln w="12700">
            <a:solidFill>
              <a:srgbClr val="2332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554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B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517904"/>
            <a:ext cx="9628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dimensi: kelengkapan, keunikan, konsistensi, validitas, akurasi. Periksa berurutan.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039112"/>
            <a:ext cx="10908792" cy="493776"/>
          </a:xfrm>
          <a:prstGeom prst="roundRect">
            <a:avLst>
              <a:gd name="adj" fmla="val 12963"/>
            </a:avLst>
          </a:prstGeom>
          <a:solidFill>
            <a:srgbClr val="23323F"/>
          </a:solidFill>
          <a:ln w="12700">
            <a:solidFill>
              <a:srgbClr val="2332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1305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B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093976"/>
            <a:ext cx="9628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lolos dari isna(). Periksa min dan max setiap kolom numerik.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615184"/>
            <a:ext cx="10908792" cy="493776"/>
          </a:xfrm>
          <a:prstGeom prst="roundRect">
            <a:avLst>
              <a:gd name="adj" fmla="val 12963"/>
            </a:avLst>
          </a:prstGeom>
          <a:solidFill>
            <a:srgbClr val="23323F"/>
          </a:solidFill>
          <a:ln w="12700">
            <a:solidFill>
              <a:srgbClr val="2332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70662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B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670048"/>
            <a:ext cx="9628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dapat dibuktikan; MCAR dan MNAR tidak. Membedakannya butuh bertanya, bukan menghitung.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191256"/>
            <a:ext cx="10908792" cy="493776"/>
          </a:xfrm>
          <a:prstGeom prst="roundRect">
            <a:avLst>
              <a:gd name="adj" fmla="val 12963"/>
            </a:avLst>
          </a:prstGeom>
          <a:solidFill>
            <a:srgbClr val="23323F"/>
          </a:solidFill>
          <a:ln w="12700">
            <a:solidFill>
              <a:srgbClr val="2332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28269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B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246120"/>
            <a:ext cx="9628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 nyaris lebih berbahaya daripada duplikat persis.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767328"/>
            <a:ext cx="10908792" cy="493776"/>
          </a:xfrm>
          <a:prstGeom prst="roundRect">
            <a:avLst>
              <a:gd name="adj" fmla="val 12963"/>
            </a:avLst>
          </a:prstGeom>
          <a:solidFill>
            <a:srgbClr val="23323F"/>
          </a:solidFill>
          <a:ln w="12700">
            <a:solidFill>
              <a:srgbClr val="2332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8587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B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822192"/>
            <a:ext cx="9628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Spasi tersembunyi menciptakan entitas hantu.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343400"/>
            <a:ext cx="10908792" cy="493776"/>
          </a:xfrm>
          <a:prstGeom prst="roundRect">
            <a:avLst>
              <a:gd name="adj" fmla="val 12963"/>
            </a:avLst>
          </a:prstGeom>
          <a:solidFill>
            <a:srgbClr val="23323F"/>
          </a:solidFill>
          <a:ln w="12700">
            <a:solidFill>
              <a:srgbClr val="2332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4348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B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4398264"/>
            <a:ext cx="9628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Konversi tanggal bisa salah tanpa satu pun galat. Selalu periksa rentangnya.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4919472"/>
            <a:ext cx="10908792" cy="493776"/>
          </a:xfrm>
          <a:prstGeom prst="roundRect">
            <a:avLst>
              <a:gd name="adj" fmla="val 12963"/>
            </a:avLst>
          </a:prstGeom>
          <a:solidFill>
            <a:srgbClr val="23323F"/>
          </a:solidFill>
          <a:ln w="12700">
            <a:solidFill>
              <a:srgbClr val="2332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50109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B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974336"/>
            <a:ext cx="9628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ini mendiagnosis, belum memperbaiki.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1F3B36"/>
          </a:solidFill>
          <a:ln w="12700">
            <a:solidFill>
              <a:srgbClr val="1F3B3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5614416"/>
            <a:ext cx="10268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pertemuan 5: selesaikan Bagian 10 dan commit  ·  kerjakan kuis formatif di LMS  ·  baca Bagian 1 workbook pertemuan 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26364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5: membersihkan data, dengan alasan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4 — Mendiagnosis Kualitas Data (EDA)</dc:title>
  <dc:subject>PptxGenJS Presentation</dc:subject>
  <dc:creator>Akhmam Fahmi, S.Mat., M.Pd.</dc:creator>
  <cp:lastModifiedBy>Akhmam Fahmi, S.Mat., M.Pd.</cp:lastModifiedBy>
  <cp:revision>1</cp:revision>
  <dcterms:created xsi:type="dcterms:W3CDTF">2026-10-04T23:19:03Z</dcterms:created>
  <dcterms:modified xsi:type="dcterms:W3CDTF">2026-10-04T23:19:03Z</dcterms:modified>
</cp:coreProperties>
</file>